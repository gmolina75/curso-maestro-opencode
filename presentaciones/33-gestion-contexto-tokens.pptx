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1333500" y="2286000"/>
            <a:ext cx="95250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Clase 33: Gestión de Contexto y Tokens</a:t>
            </a:r>
          </a:p>
        </p:txBody>
      </p:sp>
      <p:sp>
        <p:nvSpPr>
          <p:cNvPr id="3" name="dsl:subtitle|s=$subtitle"/>
          <p:cNvSpPr txBox="1"/>
          <p:nvPr/>
        </p:nvSpPr>
        <p:spPr>
          <a:xfrm>
            <a:off x="1333500" y="3238500"/>
            <a:ext cx="95250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noProof="1">
                <a:solidFill>
                  <a:srgbClr val="1F2937"/>
                </a:solidFill>
                <a:latin typeface="MiSans"/>
                <a:ea typeface="MiSans"/>
              </a:rPr>
              <a:t>Módulo 33 | Duración: 1.5 horas</a:t>
            </a:r>
          </a:p>
        </p:txBody>
      </p:sp>
      <p:sp>
        <p:nvSpPr>
          <p:cNvPr id="4" name="dsl:deco-line"/>
          <p:cNvSpPr/>
          <p:nvPr/>
        </p:nvSpPr>
        <p:spPr>
          <a:xfrm>
            <a:off x="5143500" y="3810000"/>
            <a:ext cx="1905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¿Qué es la Ventana de Contexto?</a:t>
            </a:r>
          </a:p>
        </p:txBody>
      </p:sp>
      <p:sp>
        <p:nvSpPr>
          <p:cNvPr id="3" name="dsl:bullets|s=$bullet"/>
          <p:cNvSpPr txBox="1"/>
          <p:nvPr/>
        </p:nvSpPr>
        <p:spPr>
          <a:xfrm>
            <a:off x="762000" y="133350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Cantidad máxima de tokens que un modelo puede procesar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Incluye: system prompt, historial de mensajes, archivos referenciados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Si se excede, el modelo pierde información del inicio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OpenCode muestra el conteo de tokens en la barra de estado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Gestionar el contexto = mejores respuestas y menor costo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Límites de Contexto por Proveedor</a:t>
            </a:r>
          </a:p>
        </p:txBody>
      </p:sp>
      <p:graphicFrame>
        <p:nvGraphicFramePr>
          <p:cNvPr id="3" name="dsl:table"/>
          <p:cNvGraphicFramePr>
            <a:graphicFrameLocks noGrp="1"/>
          </p:cNvGraphicFramePr>
          <p:nvPr/>
        </p:nvGraphicFramePr>
        <p:xfrm>
          <a:off x="762000" y="1333500"/>
          <a:ext cx="10668000" cy="3429000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3733800"/>
                <a:gridCol w="3200400"/>
                <a:gridCol w="3733800"/>
              </a:tblGrid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Modelo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Contexto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Notas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57607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Claude Sonnet 4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200K tokens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Ideal para código grande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</a:tr>
              <a:tr h="57607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GPT-4o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128K tokens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Buen balance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Gemini Pro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1M tokens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Máximo contexto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</a:tr>
              <a:tr h="57607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Llama 3 (local)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8K-128K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Depende de config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Haiku / pequeños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4K-32K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439" noProof="1">
                          <a:solidFill>
                            <a:srgbClr val="000000"/>
                          </a:solidFill>
                          <a:latin typeface="MiSans"/>
                          <a:ea typeface="MiSans"/>
                        </a:rPr>
                        <a:t>Tareas simples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Estrategias de Compactación</a:t>
            </a:r>
          </a:p>
        </p:txBody>
      </p:sp>
      <p:sp>
        <p:nvSpPr>
          <p:cNvPr id="3" name="dsl:bullets|s=$bullet"/>
          <p:cNvSpPr txBox="1"/>
          <p:nvPr/>
        </p:nvSpPr>
        <p:spPr>
          <a:xfrm>
            <a:off x="762000" y="133350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/compact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o 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/summarize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: Resume el historial manteniendo esencia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Referenciar solo archivos necesarios con 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@archivo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Dividir tareas grandes en sesiones separadas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Usar 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small_model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para tareas menores y ahorrar tokens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Configurar 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num_ctx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en modelos locales (Ollama)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Selección de Modelos por Tarea</a:t>
            </a:r>
          </a:p>
        </p:txBody>
      </p:sp>
      <p:sp>
        <p:nvSpPr>
          <p:cNvPr id="3" name="dsl:bullets|s=$bullet"/>
          <p:cNvSpPr txBox="1"/>
          <p:nvPr/>
        </p:nvSpPr>
        <p:spPr>
          <a:xfrm>
            <a:off x="762000" y="133350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MiSans"/>
                <a:ea typeface="MiSans"/>
              </a:rPr>
              <a:t>Refactoring complejo: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Claude Opus o GPT-4o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MiSans"/>
                <a:ea typeface="MiSans"/>
              </a:rPr>
              <a:t>Bug fixes simples: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Sonnet / Haiku (más rápido, más barato)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MiSans"/>
                <a:ea typeface="MiSans"/>
              </a:rPr>
              <a:t>Generación de tests: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Qwen-Coder, DeepSeek-Coder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MiSans"/>
                <a:ea typeface="MiSans"/>
              </a:rPr>
              <a:t>Explicaciones / docs: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Cualquier modelo con buen contexto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b="1" sz="1350" noProof="1">
                <a:solidFill>
                  <a:srgbClr val="1F2937"/>
                </a:solidFill>
                <a:latin typeface="MiSans"/>
                <a:ea typeface="MiSans"/>
              </a:rPr>
              <a:t>CI/CD headless: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Modelo rápido y económico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Resumen</a:t>
            </a:r>
          </a:p>
        </p:txBody>
      </p:sp>
      <p:sp>
        <p:nvSpPr>
          <p:cNvPr id="3" name="dsl:checks|s=$check"/>
          <p:cNvSpPr txBox="1"/>
          <p:nvPr/>
        </p:nvSpPr>
        <p:spPr>
          <a:xfrm>
            <a:off x="762000" y="1524000"/>
            <a:ext cx="10477500" cy="400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Ventana de contexto = límite de tokens del modelo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Cada proveedor tiene límites diferentes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/compact para gestionar historial largo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Elegir modelo según complejidad y costo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2563EB"/>
    <Color name="secondary" value="#1E293B"/>
    <Color name="accent" value="#10B981"/>
    <Color name="background" value="#FFFFFF"/>
    <Color name="text" value="#1F2937"/>
    <Color name="lightGray" value="#F3F4F6"/>
    <Color name="border" value="#E5E7EB"/>
  </Colors>
  <TextStyles>
    <TextStyle name="title" font_size="36.0" color="$secondary" font_family="MiSans"/>
    <TextStyle name="subtitle" font_size="20.0" color="$text" font_family="MiSans"/>
    <TextStyle name="body" font_size="18.0" color="$text" font_family="MiSans" line_height="1.6"/>
    <TextStyle name="code" font_size="16.0" color="#374151" font_family="MiSans" line_height="1.4"/>
    <TextStyle name="bullet" font_size="18.0" color="$text" font_family="MiSans" line_height="1.6"/>
    <TextStyle name="check" font_size="18.0" color="$accent" font_family="MiSans" line_height="1.6"/>
  </TextStyles>
</DslMetadata>
</file>

<file path=customXml/itemProps1.xml><?xml version="1.0" encoding="utf-8"?>
<ns0:datastoreItem xmlns:ns0="http://schemas.openxmlformats.org/officeDocument/2006/customXml" ns0:itemID="{85FC88E6-45BC-4D13-BB43-B17A17783193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