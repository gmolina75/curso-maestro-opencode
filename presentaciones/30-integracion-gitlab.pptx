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11E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828800"/>
            <a:ext cx="10058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Clase 30: Integración GitLab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4114800"/>
            <a:ext cx="10058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CFCECD"/>
                </a:solidFill>
              </a:defRPr>
            </a:pPr>
            <a:r>
              <a:t>Módulo 30 | Duración: 1 hora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211E1E"/>
                </a:solidFill>
              </a:defRPr>
            </a:pPr>
            <a:r>
              <a:t>GitLab Duo Agent Platform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88720"/>
            <a:ext cx="10972800" cy="45720"/>
          </a:xfrm>
          <a:prstGeom prst="rect">
            <a:avLst/>
          </a:prstGeom>
          <a:solidFill>
            <a:srgbClr val="6563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211E1E"/>
                </a:solidFill>
              </a:defRPr>
            </a:pPr>
            <a:r>
              <a:t>• Requiere Premium o Ultimate</a:t>
            </a:r>
          </a:p>
          <a:p>
            <a:pPr>
              <a:spcAft>
                <a:spcPts val="1200"/>
              </a:spcAft>
              <a:defRPr sz="2000">
                <a:solidFill>
                  <a:srgbClr val="211E1E"/>
                </a:solidFill>
              </a:defRPr>
            </a:pPr>
            <a:r>
              <a:t>• OAuth o Personal Access Token</a:t>
            </a:r>
          </a:p>
          <a:p>
            <a:pPr>
              <a:spcAft>
                <a:spcPts val="1200"/>
              </a:spcAft>
              <a:defRPr sz="2000">
                <a:solidFill>
                  <a:srgbClr val="211E1E"/>
                </a:solidFill>
              </a:defRPr>
            </a:pPr>
            <a:r>
              <a:t>• Modelos Claude-based</a:t>
            </a:r>
          </a:p>
          <a:p>
            <a:pPr>
              <a:spcAft>
                <a:spcPts val="1200"/>
              </a:spcAft>
              <a:defRPr sz="2000">
                <a:solidFill>
                  <a:srgbClr val="211E1E"/>
                </a:solidFill>
              </a:defRPr>
            </a:pPr>
            <a:r>
              <a:t>• Soporte para GitLab.com y Self-Managed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211E1E"/>
                </a:solidFill>
              </a:defRPr>
            </a:pPr>
            <a:r>
              <a:t>Configuración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371600"/>
            <a:ext cx="11247120" cy="5029200"/>
          </a:xfrm>
          <a:prstGeom prst="round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1069848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4EC9B0"/>
                </a:solidFill>
                <a:latin typeface="Consolas"/>
              </a:defRPr>
            </a:pPr>
            <a:r>
              <a:t># Conectar con GitLab</a:t>
            </a:r>
          </a:p>
          <a:p>
            <a:pPr>
              <a:defRPr sz="1600">
                <a:solidFill>
                  <a:srgbClr val="4EC9B0"/>
                </a:solidFill>
                <a:latin typeface="Consolas"/>
              </a:defRPr>
            </a:pPr>
            <a:r>
              <a:t>/connect</a:t>
            </a:r>
          </a:p>
          <a:p>
            <a:pPr>
              <a:defRPr sz="1600">
                <a:solidFill>
                  <a:srgbClr val="4EC9B0"/>
                </a:solidFill>
                <a:latin typeface="Consolas"/>
              </a:defRPr>
            </a:pPr>
            <a:r>
              <a:t># Seleccionar GitLab</a:t>
            </a:r>
          </a:p>
          <a:p>
            <a:pPr>
              <a:defRPr sz="1600">
                <a:solidFill>
                  <a:srgbClr val="4EC9B0"/>
                </a:solidFill>
                <a:latin typeface="Consolas"/>
              </a:defRPr>
            </a:pPr>
            <a:r>
              <a:t># Elegir OAuth o Personal Access Token</a:t>
            </a:r>
          </a:p>
          <a:p>
            <a:pPr>
              <a:defRPr sz="1600">
                <a:solidFill>
                  <a:srgbClr val="4EC9B0"/>
                </a:solidFill>
                <a:latin typeface="Consolas"/>
              </a:defRPr>
            </a:pPr>
          </a:p>
          <a:p>
            <a:pPr>
              <a:defRPr sz="1600">
                <a:solidFill>
                  <a:srgbClr val="4EC9B0"/>
                </a:solidFill>
                <a:latin typeface="Consolas"/>
              </a:defRPr>
            </a:pPr>
            <a:r>
              <a:t># Modelos disponibles:</a:t>
            </a:r>
          </a:p>
          <a:p>
            <a:pPr>
              <a:defRPr sz="1600">
                <a:solidFill>
                  <a:srgbClr val="4EC9B0"/>
                </a:solidFill>
                <a:latin typeface="Consolas"/>
              </a:defRPr>
            </a:pPr>
            <a:r>
              <a:t># - duo-chat-haiku-4-5 (rápido)</a:t>
            </a:r>
          </a:p>
          <a:p>
            <a:pPr>
              <a:defRPr sz="1600">
                <a:solidFill>
                  <a:srgbClr val="4EC9B0"/>
                </a:solidFill>
                <a:latin typeface="Consolas"/>
              </a:defRPr>
            </a:pPr>
            <a:r>
              <a:t># - duo-chat-sonnet-4-5 (balanceado)</a:t>
            </a:r>
          </a:p>
          <a:p>
            <a:pPr>
              <a:defRPr sz="1600">
                <a:solidFill>
                  <a:srgbClr val="4EC9B0"/>
                </a:solidFill>
                <a:latin typeface="Consolas"/>
              </a:defRPr>
            </a:pPr>
            <a:r>
              <a:t># - duo-chat-opus-4-5 (capaz)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211E1E"/>
                </a:solidFill>
              </a:defRPr>
            </a:pPr>
            <a:r>
              <a:t>Self-Hosted GitLab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371600"/>
            <a:ext cx="11247120" cy="5029200"/>
          </a:xfrm>
          <a:prstGeom prst="round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1069848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4EC9B0"/>
                </a:solidFill>
                <a:latin typeface="Consolas"/>
              </a:defRPr>
            </a:pPr>
            <a:r>
              <a:t>export GITLAB_INSTANCE_URL=https://gitlab.company.com</a:t>
            </a:r>
          </a:p>
          <a:p>
            <a:pPr>
              <a:defRPr sz="1600">
                <a:solidFill>
                  <a:srgbClr val="4EC9B0"/>
                </a:solidFill>
                <a:latin typeface="Consolas"/>
              </a:defRPr>
            </a:pPr>
            <a:r>
              <a:t>export GITLAB_TOKEN=glpat-...</a:t>
            </a:r>
          </a:p>
          <a:p>
            <a:pPr>
              <a:defRPr sz="1600">
                <a:solidFill>
                  <a:srgbClr val="4EC9B0"/>
                </a:solidFill>
                <a:latin typeface="Consolas"/>
              </a:defRPr>
            </a:pPr>
            <a:r>
              <a:t>export GITLAB_AI_GATEWAY_URL=https://ai-gateway.company.com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211E1E"/>
                </a:solidFill>
              </a:defRPr>
            </a:pPr>
            <a:r>
              <a:t>Plugin GitLab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371600"/>
            <a:ext cx="11247120" cy="5029200"/>
          </a:xfrm>
          <a:prstGeom prst="round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1069848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4EC9B0"/>
                </a:solidFill>
                <a:latin typeface="Consolas"/>
              </a:defRPr>
            </a:pPr>
            <a:r>
              <a:t>{</a:t>
            </a:r>
          </a:p>
          <a:p>
            <a:pPr>
              <a:defRPr sz="1600">
                <a:solidFill>
                  <a:srgbClr val="4EC9B0"/>
                </a:solidFill>
                <a:latin typeface="Consolas"/>
              </a:defRPr>
            </a:pPr>
            <a:r>
              <a:t>  "plugin": ["opencode-gitlab-plugin"]</a:t>
            </a:r>
          </a:p>
          <a:p>
            <a:pPr>
              <a:defRPr sz="1600">
                <a:solidFill>
                  <a:srgbClr val="4EC9B0"/>
                </a:solidFill>
                <a:latin typeface="Consolas"/>
              </a:defRPr>
            </a:pPr>
            <a:r>
              <a:t>}</a:t>
            </a:r>
          </a:p>
          <a:p>
            <a:pPr>
              <a:defRPr sz="1600">
                <a:solidFill>
                  <a:srgbClr val="4EC9B0"/>
                </a:solidFill>
                <a:latin typeface="Consolas"/>
              </a:defRPr>
            </a:pPr>
          </a:p>
          <a:p>
            <a:pPr>
              <a:defRPr sz="1600">
                <a:solidFill>
                  <a:srgbClr val="4EC9B0"/>
                </a:solidFill>
                <a:latin typeface="Consolas"/>
              </a:defRPr>
            </a:pPr>
            <a:r>
              <a:t># Herramientas incluidas:</a:t>
            </a:r>
          </a:p>
          <a:p>
            <a:pPr>
              <a:defRPr sz="1600">
                <a:solidFill>
                  <a:srgbClr val="4EC9B0"/>
                </a:solidFill>
                <a:latin typeface="Consolas"/>
              </a:defRPr>
            </a:pPr>
            <a:r>
              <a:t># - MR reviews</a:t>
            </a:r>
          </a:p>
          <a:p>
            <a:pPr>
              <a:defRPr sz="1600">
                <a:solidFill>
                  <a:srgbClr val="4EC9B0"/>
                </a:solidFill>
                <a:latin typeface="Consolas"/>
              </a:defRPr>
            </a:pPr>
            <a:r>
              <a:t># - Issue tracking</a:t>
            </a:r>
          </a:p>
          <a:p>
            <a:pPr>
              <a:defRPr sz="1600">
                <a:solidFill>
                  <a:srgbClr val="4EC9B0"/>
                </a:solidFill>
                <a:latin typeface="Consolas"/>
              </a:defRPr>
            </a:pPr>
            <a:r>
              <a:t># - Pipeline monitoring</a:t>
            </a:r>
          </a:p>
          <a:p>
            <a:pPr>
              <a:defRPr sz="1600">
                <a:solidFill>
                  <a:srgbClr val="4EC9B0"/>
                </a:solidFill>
                <a:latin typeface="Consolas"/>
              </a:defRPr>
            </a:pPr>
            <a:r>
              <a:t># - CI/CD integration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11E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</a:defRPr>
            </a:pPr>
            <a:r>
              <a:t>Resumen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10058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>
                <a:solidFill>
                  <a:srgbClr val="4EC9B0"/>
                </a:solidFill>
              </a:defRPr>
            </a:pPr>
            <a:r>
              <a:t>✓ GitLab Duo para agentes AI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194560"/>
            <a:ext cx="10058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>
                <a:solidFill>
                  <a:srgbClr val="4EC9B0"/>
                </a:solidFill>
              </a:defRPr>
            </a:pPr>
            <a:r>
              <a:t>✓ Premium/Ultimate requerido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017520"/>
            <a:ext cx="10058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>
                <a:solidFill>
                  <a:srgbClr val="4EC9B0"/>
                </a:solidFill>
              </a:defRPr>
            </a:pPr>
            <a:r>
              <a:t>✓ Self-hosted soportado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840480"/>
            <a:ext cx="10058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>
                <a:solidFill>
                  <a:srgbClr val="4EC9B0"/>
                </a:solidFill>
              </a:defRPr>
            </a:pPr>
            <a:r>
              <a:t>✓ Plugin para herramientas completas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